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09728" cy="1371600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402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PACKIT Operations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632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9C6D2"/>
                </a:solidFill>
                <a:latin typeface="Segoe UI"/>
              </a:rPr>
              <a:t>Answering “what happened to this Packaging Specification?” from live data — grounded, read-only, and verifiable.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69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E91A3"/>
                </a:solidFill>
                <a:latin typeface="Segoe UI"/>
              </a:rPr>
              <a:t>PACKIT • PDMI • Target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What answering one question costs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07040" cy="93268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6184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6E8A"/>
                </a:solidFill>
                <a:latin typeface="Segoe UI"/>
              </a:rPr>
              <a:t>1. Find the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8928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Search Splunk (index pdbb) by PS ID. Results are raw JSON/Atom envelopes, one row per processing hop — a single PS can produce 100+.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60320"/>
            <a:ext cx="10607040" cy="93268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6700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6E8A"/>
                </a:solidFill>
                <a:latin typeface="Segoe UI"/>
              </a:rPr>
              <a:t>2. Work out what actually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944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Group hops by Message ID *and* Target System. One PS fans out to several targets with independent outcomes; one Message ID is not one transfer.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11880"/>
            <a:ext cx="10607040" cy="93268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7216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6E8A"/>
                </a:solidFill>
                <a:latin typeface="Segoe UI"/>
              </a:rPr>
              <a:t>3. Decode the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95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Take the Status Description text to the Docupedia error catalogue and match it by eye against 63 documented rows (57 of them actionable) to find the cause, owner and fix.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63440"/>
            <a:ext cx="10607040" cy="93268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7731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6E8A"/>
                </a:solidFill>
                <a:latin typeface="Segoe UI"/>
              </a:rPr>
              <a:t>4. Decide whether it should have arrived at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0474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Query the Additional Routing plan separately — a PS being Active does not mean this Target System was ever configured to receive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1442E"/>
                </a:solidFill>
                <a:latin typeface="Segoe UI"/>
              </a:rPr>
              <a:t>Four systems, four vocabularies, joined by hand — every time, by whoever happens to be asked.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The cost is not only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429000" cy="26517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3429000" cy="54864"/>
          </a:xfrm>
          <a:prstGeom prst="rect">
            <a:avLst/>
          </a:prstGeom>
          <a:solidFill>
            <a:srgbClr val="C1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222E"/>
                </a:solidFill>
                <a:latin typeface="Segoe UI"/>
              </a:rPr>
              <a:t>Expertise concentrated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87A"/>
                </a:solidFill>
                <a:latin typeface="Segoe UI"/>
              </a:rPr>
              <a:t>Only a handful of people can read a raw PDMI payload confidently. They become the bottleneck for everyone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29000" cy="26517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3429000" cy="54864"/>
          </a:xfrm>
          <a:prstGeom prst="rect">
            <a:avLst/>
          </a:prstGeom>
          <a:solidFill>
            <a:srgbClr val="C1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11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222E"/>
                </a:solidFill>
                <a:latin typeface="Segoe UI"/>
              </a:rPr>
              <a:t>Wrong answers look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6060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87A"/>
                </a:solidFill>
                <a:latin typeface="Segoe UI"/>
              </a:rPr>
              <a:t>“Nothing found” and “not found in the last 15 minutes” are different claims. Confusing them sends someone to fix a PS that is fine — or ignore one that is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429000" cy="26517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737360"/>
            <a:ext cx="3429000" cy="54864"/>
          </a:xfrm>
          <a:prstGeom prst="rect">
            <a:avLst/>
          </a:prstGeom>
          <a:solidFill>
            <a:srgbClr val="C14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222E"/>
                </a:solidFill>
                <a:latin typeface="Segoe UI"/>
              </a:rPr>
              <a:t>Knowledge sits in a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6060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87A"/>
                </a:solidFill>
                <a:latin typeface="Segoe UI"/>
              </a:rPr>
              <a:t>The error catalogue is real and maintained, but it is only useful if a human remembers to open it and matches the right 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222E"/>
                </a:solidFill>
                <a:latin typeface="Segoe UI"/>
              </a:rPr>
              <a:t>The failure mode that matters most is not “no answer” — it is a confident, plausible, wrong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A chat interface over the data that already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10607040" cy="1188720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00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Ask in plain language. It searches Splunk, reconstructs what happened, matches the documented error catalogue, checks the routing plan — and answers with the concrete identifiers you need to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6E8A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Names the actual values — SNR13, plant, determination type, target system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Distinguishes source re-publishes from target reprocessing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Reports only the newest activation of a Determination Record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Quotes the documented fix verbatim, including transaction codes and queues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971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1442E"/>
                </a:solidFill>
                <a:latin typeface="Segoe UI"/>
              </a:rPr>
              <a:t>What it never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38328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Never triggers, retriggers or edits anything — strictly read-only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Never invents a fix that is not in the error catalogue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Never claims a search it did not run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Never presents an unscoped production sweep as an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The systems involved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Four sources, one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4864" cy="713232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222E"/>
                </a:solidFill>
                <a:latin typeface="Segoe UI"/>
              </a:rPr>
              <a:t>PACKIT / PD7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Source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4650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Where a Packaging Specification is created and activated. Publishes a Determination Record per plant / index / supplier.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95728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395728"/>
            <a:ext cx="54864" cy="713232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222E"/>
                </a:solidFill>
                <a:latin typeface="Segoe UI"/>
              </a:rPr>
              <a:t>PDMI + Solace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6148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4203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Routes each trigger to the Target System(s) subscribed to its TOPICSTRING.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91256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191256"/>
            <a:ext cx="54864" cy="713232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644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222E"/>
                </a:solidFill>
                <a:latin typeface="Segoe UI"/>
              </a:rPr>
              <a:t>Target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57016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Consumers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3375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R/3 and S/4-EWM systems that create the Packaging Instruction and BOM. Includes POE (xOE line) and PT0.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86784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54864" cy="713232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0599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222E"/>
                </a:solidFill>
                <a:latin typeface="Segoe UI"/>
              </a:rPr>
              <a:t>Splunk (pdbb)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5254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13308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Every hop of every transfer, via the Bosch API gateway. The system of record for what actually happened.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82312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782312"/>
            <a:ext cx="54864" cy="713232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554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222E"/>
                </a:solidFill>
                <a:latin typeface="Segoe UI"/>
              </a:rPr>
              <a:t>Additional Routing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4807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2861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Which Target System a Plant + Determination Type is configured to reach at all.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577840"/>
            <a:ext cx="106070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577840"/>
            <a:ext cx="54864" cy="713232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6509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222E"/>
                </a:solidFill>
                <a:latin typeface="Segoe UI"/>
              </a:rPr>
              <a:t>Docupedia error catalogue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943600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Knowledge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72414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Documented cause, responsible party and fix per error — the only source the agent may quote a fix from.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How a Packaging Specification reaches a Target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The flow the agent has to explain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920240" cy="86868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PACKIT / PD7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9514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create + activate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2331720"/>
            <a:ext cx="457200" cy="146304"/>
          </a:xfrm>
          <a:prstGeom prst="rightArrow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965960"/>
            <a:ext cx="1920240" cy="86868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05740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PDMI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9514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publish trigger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9240" y="2331720"/>
            <a:ext cx="457200" cy="146304"/>
          </a:xfrm>
          <a:prstGeom prst="rightArrow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97880" y="1965960"/>
            <a:ext cx="1920240" cy="86868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05740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Solace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29514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TOPICSTRING routing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09560" y="2331720"/>
            <a:ext cx="457200" cy="146304"/>
          </a:xfrm>
          <a:prstGeom prst="rightArrow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1965960"/>
            <a:ext cx="2926080" cy="868680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00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5740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Target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9514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R/3 · S/4-EWM · POE · PT0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246120"/>
            <a:ext cx="10607040" cy="96012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3649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87A"/>
                </a:solidFill>
                <a:latin typeface="Segoe UI"/>
              </a:rPr>
              <a:t>Every hop of this journey is logged to Splunk — that is what the agent reads.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87A"/>
                </a:solidFill>
                <a:latin typeface="Segoe UI"/>
              </a:rPr>
              <a:t>Dependent Objects (Cockpit Master Data, Document Info Records) are sent only to the xOE line, and can block the PS's own transfer until they complete.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2628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63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06E8A"/>
                </a:solidFill>
                <a:latin typeface="Segoe UI"/>
              </a:rPr>
              <a:t>OBJECTKEY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87A"/>
                </a:solidFill>
                <a:latin typeface="Segoe UI"/>
              </a:rPr>
              <a:t>identifies the business object — PS ID + SEQNO + activation counter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52628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663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06E8A"/>
                </a:solidFill>
                <a:latin typeface="Segoe UI"/>
              </a:rPr>
              <a:t>SEQNO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87A"/>
                </a:solidFill>
                <a:latin typeface="Segoe UI"/>
              </a:rPr>
              <a:t>which Determination Record: one PS can be extended to many plants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52628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663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06E8A"/>
                </a:solidFill>
                <a:latin typeface="Segoe UI"/>
              </a:rPr>
              <a:t>ZACTCOUNTER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87A"/>
                </a:solidFill>
                <a:latin typeface="Segoe UI"/>
              </a:rPr>
              <a:t>which version of the PS structure; the target processes the newest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What happens between pressing Enter and seeing an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737360" cy="77724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938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React UI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40" y="1920240"/>
            <a:ext cx="411480" cy="146304"/>
          </a:xfrm>
          <a:prstGeom prst="rightArrow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600200"/>
            <a:ext cx="1920240" cy="77724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2938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SSE streaming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20640" y="1920240"/>
            <a:ext cx="411480" cy="146304"/>
          </a:xfrm>
          <a:prstGeom prst="rightArrow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23560" y="1600200"/>
            <a:ext cx="2194560" cy="777240"/>
          </a:xfrm>
          <a:prstGeom prst="roundRect">
            <a:avLst/>
          </a:prstGeom>
          <a:solidFill>
            <a:srgbClr val="F6EEE6"/>
          </a:solidFill>
          <a:ln w="12700">
            <a:solidFill>
              <a:srgbClr val="D8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16916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Turn 1 —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9293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question → SearchParams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09560" y="1920240"/>
            <a:ext cx="411480" cy="146304"/>
          </a:xfrm>
          <a:prstGeom prst="rightArrow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600200"/>
            <a:ext cx="2971800" cy="777240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00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91640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Deterministic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9384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no LLM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697480"/>
            <a:ext cx="10607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2880360"/>
            <a:ext cx="1572768" cy="10515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297180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20954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Splunk, 4-call job flow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51760" y="3337560"/>
            <a:ext cx="146304" cy="146304"/>
          </a:xfrm>
          <a:prstGeom prst="rightArrow">
            <a:avLst/>
          </a:prstGeom>
          <a:solidFill>
            <a:srgbClr val="D3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88920" y="2880360"/>
            <a:ext cx="1572768" cy="10515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297180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Transform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20954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hops → Transfers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389120" y="3337560"/>
            <a:ext cx="146304" cy="146304"/>
          </a:xfrm>
          <a:prstGeom prst="rightArrow">
            <a:avLst/>
          </a:prstGeom>
          <a:solidFill>
            <a:srgbClr val="D3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6280" y="2880360"/>
            <a:ext cx="1572768" cy="10515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297180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Supersede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20954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newest activation only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126480" y="3337560"/>
            <a:ext cx="146304" cy="146304"/>
          </a:xfrm>
          <a:prstGeom prst="rightArrow">
            <a:avLst/>
          </a:prstGeom>
          <a:solidFill>
            <a:srgbClr val="D3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2880360"/>
            <a:ext cx="1572768" cy="10515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97180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Dependent objects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20954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xOE line only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863840" y="3337560"/>
            <a:ext cx="146304" cy="146304"/>
          </a:xfrm>
          <a:prstGeom prst="rightArrow">
            <a:avLst/>
          </a:prstGeom>
          <a:solidFill>
            <a:srgbClr val="D3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01000" y="2880360"/>
            <a:ext cx="1572768" cy="10515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297180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Catalogue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20954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regex match, no RAG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601200" y="3337560"/>
            <a:ext cx="146304" cy="146304"/>
          </a:xfrm>
          <a:prstGeom prst="rightArrow">
            <a:avLst/>
          </a:prstGeom>
          <a:solidFill>
            <a:srgbClr val="D3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38360" y="2880360"/>
            <a:ext cx="1572768" cy="105156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297180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320954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only if target missing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4434840"/>
            <a:ext cx="2377440" cy="777240"/>
          </a:xfrm>
          <a:prstGeom prst="roundRect">
            <a:avLst/>
          </a:prstGeom>
          <a:solidFill>
            <a:srgbClr val="F6EEE6"/>
          </a:solidFill>
          <a:ln w="12700">
            <a:solidFill>
              <a:srgbClr val="D8B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0" y="452628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Turn 2 — LLM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47640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result → plain answer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577840" y="4754880"/>
            <a:ext cx="411480" cy="146304"/>
          </a:xfrm>
          <a:prstGeom prst="rightArrow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080760" y="4434840"/>
            <a:ext cx="2651760" cy="777240"/>
          </a:xfrm>
          <a:prstGeom prst="roundRect">
            <a:avLst/>
          </a:prstGeom>
          <a:solidFill>
            <a:srgbClr val="E9F3EC"/>
          </a:solidFill>
          <a:ln w="12700">
            <a:solidFill>
              <a:srgbClr val="1E7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52628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Grounding guard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76402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code, not prompt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823960" y="4754880"/>
            <a:ext cx="411480" cy="146304"/>
          </a:xfrm>
          <a:prstGeom prst="rightArrow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326880" y="4434840"/>
            <a:ext cx="2057400" cy="77724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52628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222E"/>
                </a:solidFill>
                <a:latin typeface="Segoe UI"/>
              </a:rPr>
              <a:t>Answer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76402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87A"/>
                </a:solidFill>
                <a:latin typeface="Segoe UI"/>
              </a:rPr>
              <a:t>grounded, cited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577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Exactly two LLM calls and one search per question. No open-ended tool loop — the model decides what to look for and how to say it; it never decides what is true.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Why the answers can be trusted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The guarantees live in code, not in the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4864" cy="841248"/>
          </a:xfrm>
          <a:prstGeom prst="rect">
            <a:avLst/>
          </a:prstGeom>
          <a:solidFill>
            <a:srgbClr val="1E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7A53"/>
                </a:solidFill>
                <a:latin typeface="Segoe UI"/>
              </a:rPr>
              <a:t>Scope 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28216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A question too broad to search never reaches Splunk — an unscoped sweep of production could return 200 arbitrary records and be presented as relevant.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54864" cy="841248"/>
          </a:xfrm>
          <a:prstGeom prst="rect">
            <a:avLst/>
          </a:prstGeom>
          <a:solidFill>
            <a:srgbClr val="1E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609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7A53"/>
                </a:solidFill>
                <a:latin typeface="Segoe UI"/>
              </a:rPr>
              <a:t>Grounding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42616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A fix that is not in the error catalogue is replaced with “no documented fix — raise a ticket”. An empty result can never be answered as though something was found.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429000"/>
            <a:ext cx="54864" cy="841248"/>
          </a:xfrm>
          <a:prstGeom prst="rect">
            <a:avLst/>
          </a:prstGeom>
          <a:solidFill>
            <a:srgbClr val="1E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753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7A53"/>
                </a:solidFill>
                <a:latin typeface="Segoe UI"/>
              </a:rPr>
              <a:t>Time-window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57016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The window the user asked for is applied deterministically, not left to the model to remember.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43400"/>
            <a:ext cx="54864" cy="841248"/>
          </a:xfrm>
          <a:prstGeom prst="rect">
            <a:avLst/>
          </a:prstGeom>
          <a:solidFill>
            <a:srgbClr val="1E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897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7A53"/>
                </a:solidFill>
                <a:latin typeface="Segoe UI"/>
              </a:rPr>
              <a:t>Activation supersession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471416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Errors on a replaced version of a PS are excluded — and never in a way that could hide a live failure.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57800"/>
            <a:ext cx="106070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257800"/>
            <a:ext cx="54864" cy="841248"/>
          </a:xfrm>
          <a:prstGeom prst="rect">
            <a:avLst/>
          </a:prstGeom>
          <a:solidFill>
            <a:srgbClr val="1E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041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7A53"/>
                </a:solidFill>
                <a:latin typeface="Segoe UI"/>
              </a:rPr>
              <a:t>Target-line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85816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87A"/>
                </a:solidFill>
                <a:latin typeface="Segoe UI"/>
              </a:rPr>
              <a:t>Dependent objects are only looked for where they can exist, so an empty result is never narrated as a problem.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What changes for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One real question, before and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1442E"/>
                </a:solidFill>
                <a:latin typeface="Segoe UI"/>
              </a:rPr>
              <a:t>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29200" cy="2286000"/>
          </a:xfrm>
          <a:prstGeom prst="roundRect">
            <a:avLst/>
          </a:prstGeom>
          <a:solidFill>
            <a:srgbClr val="FAF0EE"/>
          </a:solidFill>
          <a:ln w="12700">
            <a:solidFill>
              <a:srgbClr val="E3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“The SNR13 is not found or marked for deletion.”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“The plant is not specified in the provided data — you may need to check with the appropriate team.”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7A53"/>
                </a:solidFill>
                <a:latin typeface="Segoe UI"/>
              </a:rPr>
              <a:t>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029200" cy="2286000"/>
          </a:xfrm>
          <a:prstGeom prst="roundRect">
            <a:avLst/>
          </a:prstGeom>
          <a:solidFill>
            <a:srgbClr val="EEF6F1"/>
          </a:solidFill>
          <a:ln w="12700">
            <a:solidFill>
              <a:srgbClr val="B4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“PS 00000000040001253724 (plant 0110, SHIP) is in ERROR at SAPP870110 after 100 processing attempts: SNR13 028100944104Y is not found or marked for deletion.”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“Create 028100944104Y on SAPP870110 or remove its deletion flag — Target Error, responsible: Plant.”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222E"/>
                </a:solidFill>
                <a:latin typeface="Segoe UI"/>
              </a:rPr>
              <a:t>The difference is not tone. The first answer cannot be acted on; the second can be pasted into the target system.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222E"/>
                </a:solidFill>
                <a:latin typeface="Segoe UI"/>
              </a:rPr>
              <a:t>The data was always there — the product simply was not passing it through.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How we know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A regression suite that can prove a wrong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10607040" cy="1051560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00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22E"/>
                </a:solidFill>
                <a:latin typeface="Segoe UI"/>
              </a:rPr>
              <a:t>The data sources are frozen from real captures; the app, its HTTP clients and the live model all run for real. Any deviation is therefore the product's, not the backend's — which is the only way an expected result means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6E8A"/>
                </a:solidFill>
                <a:latin typeface="Segoe UI"/>
              </a:rPr>
              <a:t>257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87A"/>
                </a:solidFill>
                <a:latin typeface="Segoe UI"/>
              </a:rPr>
              <a:t>real Splunk events replayed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88036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6E8A"/>
                </a:solidFill>
                <a:latin typeface="Segoe U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6576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87A"/>
                </a:solidFill>
                <a:latin typeface="Segoe UI"/>
              </a:rPr>
              <a:t>scenarios / 28 conversation turns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88036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0175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6E8A"/>
                </a:solidFill>
                <a:latin typeface="Segoe UI"/>
              </a:rPr>
              <a:t>210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6576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87A"/>
                </a:solidFill>
                <a:latin typeface="Segoe UI"/>
              </a:rPr>
              <a:t>unit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88036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30175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6E8A"/>
                </a:solidFill>
                <a:latin typeface="Segoe UI"/>
              </a:rPr>
              <a:t>Every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6576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87A"/>
                </a:solidFill>
                <a:latin typeface="Segoe UI"/>
              </a:rPr>
              <a:t>answer traced to the SPL that produced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5B687A"/>
                </a:solidFill>
                <a:latin typeface="Segoe UI"/>
              </a:rPr>
              <a:t>It found real defects: a stated time window being silently replaced by a 15-minute default, an answer claiming a window it had not searched, a promise to check a second PS that was never checked, and a documented fix reported as “no documented fix”.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B687A"/>
                </a:solidFill>
                <a:latin typeface="Segoe UI"/>
              </a:rPr>
              <a:t>Each is now covered by a test that fails if it returns.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What we learned building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87A"/>
                </a:solidFill>
                <a:latin typeface="Segoe UI"/>
              </a:rPr>
              <a:t>Worth carrying into the next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0607040" cy="129844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10512"/>
            <a:ext cx="9966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6E8A"/>
                </a:solidFill>
                <a:latin typeface="Segoe UI"/>
              </a:rPr>
              <a:t>Guards in code held. Rules in the prompt did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87A"/>
                </a:solidFill>
                <a:latin typeface="Segoe UI"/>
              </a:rPr>
              <a:t>Time windows, continuation promises and identifier fidelity were all governed by instructions alone — and all four failed. Rewriting the instructions moved the numbers barely at all; moving the rule into code fixed it in one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08960"/>
            <a:ext cx="10607040" cy="129844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73552"/>
            <a:ext cx="9966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6E8A"/>
                </a:solidFill>
                <a:latin typeface="Segoe UI"/>
              </a:rPr>
              <a:t>A prompt rule constrains wording, not belief.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87A"/>
                </a:solidFill>
                <a:latin typeface="Segoe UI"/>
              </a:rPr>
              <a:t>Told not to promise a second search, the model stopped promising — and started reporting the outcome of a search it never ran. The same false claim, one layer 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72000"/>
            <a:ext cx="10607040" cy="129844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736592"/>
            <a:ext cx="9966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6E8A"/>
                </a:solidFill>
                <a:latin typeface="Segoe UI"/>
              </a:rPr>
              <a:t>The domain owner is the source of truth.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87A"/>
                </a:solidFill>
                <a:latin typeface="Segoe UI"/>
              </a:rPr>
              <a:t>Independent analysis was right about structure and wrong about meaning twice. Both errors would have shipped as confident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82296" cy="384048"/>
          </a:xfrm>
          <a:prstGeom prst="rect">
            <a:avLst/>
          </a:prstGeom>
          <a:solidFill>
            <a:srgbClr val="00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222E"/>
                </a:solidFill>
                <a:latin typeface="Segoe UI"/>
              </a:rPr>
              <a:t>Status and 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7A53"/>
                </a:solidFill>
                <a:latin typeface="Segoe UI"/>
              </a:rPr>
              <a:t>Working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Status, error cause and documented fix for any PS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Multi-target fan-out reported per target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Dependent-object blocking, scoped to the xOE line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Additional Routing check when a target is missing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Domain questions answered from the glossary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Single-process launch, pre-built UI, no Node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6E8A"/>
                </a:solidFill>
                <a:latin typeface="Segoe UI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6596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Reuse the last result so follow-ups skip a Splunk round trip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Capture a Document Info Record payload to confirm the PS ↔ DIR link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Surface the interpreted search on screen, so a misreading is visible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Paginate beyond 200 rows — today a very long retry chain is truncated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•  Widen the regression corpus as new error patterns appear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00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3949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222E"/>
                </a:solidFill>
                <a:latin typeface="Segoe UI"/>
              </a:rPr>
              <a:t>Read-only by design. It tells you what happened and what the catalogue says to do — a human still does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55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87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